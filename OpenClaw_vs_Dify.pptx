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314575"/>
            <a:ext cx="8229600" cy="45720"/>
          </a:xfrm>
          <a:prstGeom prst="rect">
            <a:avLst/>
          </a:prstGeom>
          <a:solidFill>
            <a:srgbClr val="00CECB"/>
          </a:solidFill>
          <a:ln/>
        </p:spPr>
      </p:sp>
      <p:pic>
        <p:nvPicPr>
          <p:cNvPr id="4" name="Image 0" descr="https://upload.wikimedia.org/wikipedia/commons/thumb/c/c2/AI_icon.svg/512px-AI_icon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437197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_DARK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E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3455"/>
            <a:ext cx="4572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vs Dify | 架构范式与未来趋势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4783455"/>
            <a:ext cx="1371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Insights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_LIGHT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0340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7220"/>
            <a:ext cx="9144000" cy="45720"/>
          </a:xfrm>
          <a:prstGeom prst="rect">
            <a:avLst/>
          </a:prstGeom>
          <a:solidFill>
            <a:srgbClr val="00CEC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83455"/>
            <a:ext cx="4572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vs Dify | 架构范式与未来趋势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83455"/>
            <a:ext cx="1371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Insights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OpenClaw vs Dify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架构范式之争：本地 Agent 运行时 vs 云原生 LLM 应用引擎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3432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深度解读、多维度剖析与未来趋势展望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核心定位差异：双手 vs 大脑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384048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1282A2"/>
            </a:solidFill>
            <a:prstDash val="solid"/>
          </a:ln>
          <a:effectLst>
            <a:outerShdw sx="100000" sy="100000" kx="0" ky="0" algn="bl" rotWithShape="0" blurRad="63500" dist="38100" dir="16200000">
              <a:srgbClr val="666666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300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OpenClaw: 个人/团队的“双手”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00225"/>
            <a:ext cx="3291840" cy="231457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自主的本地 AI Agent 框架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强调隐私、本地控制和执行力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“去中心化” 的设备常驻助手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深度系统集成：操作浏览器、读写文件、接管消息终端 (WhatsApp, TG等)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28700"/>
            <a:ext cx="384048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CECB"/>
            </a:solidFill>
            <a:prstDash val="solid"/>
          </a:ln>
          <a:effectLst>
            <a:outerShdw sx="100000" sy="100000" kx="0" ky="0" algn="bl" rotWithShape="0" blurRad="63500" dist="38100" dir="16200000">
              <a:srgbClr val="66666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18300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Dify: AI 应用服务的“大脑”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0" y="1800225"/>
            <a:ext cx="3291840" cy="231457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强大的企业级 LLMOps 平台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侧重于工作流编排、RAG与产品化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“中心化” 的云端 / 团队引擎
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1A1D20"/>
                </a:solidFill>
              </a:rPr>
              <a:t>• 适合搭建复杂的知识问答、AI客服、企业内部业务流程自动化服务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多维度深度对比矩阵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8700"/>
          <a:ext cx="8229600" cy="30861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评估维度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2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OpenClaw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2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Dify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2A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目标受众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个人开发者、极客、需本地自动化的员工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企业团队、产品经理、AI应用开发者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部署与架构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本地优先，常驻后台 (可完全离线)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云端SaaS / 容器化私有部署 (中心化)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核心能力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系统操作、文件读写、IM 消息终端接管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RAG(检索增强)、工作流可视化编排(Workflow)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开发/使用门槛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中高 (需一定技术背景和本地配置)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极低 (可视化低代码拖拽，开箱即用)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数据隐私性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ECB"/>
                          </a:solidFill>
                        </a:rPr>
                        <a:t>极高 (数据留在本地设备)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AB2"/>
                          </a:solidFill>
                        </a:rPr>
                        <a:t>依赖所部署的服务器/云平台环境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优缺点解析与技术边界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1525"/>
            <a:ext cx="4114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85875"/>
            <a:ext cx="4114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优势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43050"/>
            <a:ext cx="4114800" cy="7715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绝对的数据掌控权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强执行力(代码执行、系统交互)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深度融入个人生活与工作场景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缺点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26055"/>
            <a:ext cx="4114800" cy="7715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难以直接向企业客户输出标准化 SaaS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多端状态同步与管理成本高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个人硬件限制影响大模型发挥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771525"/>
            <a:ext cx="4114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4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285875"/>
            <a:ext cx="4114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优势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543050"/>
            <a:ext cx="4114800" cy="7715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所见即所得的极佳构建体验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成熟的 RAG、知识库管理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✔ 易于监控、审查、多成员协作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4114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缺点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726055"/>
            <a:ext cx="4114800" cy="77152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终端执行力受限(通常需自行接 Webhook)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需要服务器资源成本来维持服务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D20"/>
                </a:solidFill>
              </a:rPr>
              <a:t>✘ 本地化操作系统级深度任务做不到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285875"/>
            <a:ext cx="0" cy="257175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57200" y="3857625"/>
            <a:ext cx="8229600" cy="514350"/>
          </a:xfrm>
          <a:prstGeom prst="rect">
            <a:avLst/>
          </a:prstGeom>
          <a:solidFill>
            <a:srgbClr val="1282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结论: Dify 编排知识与逻辑流；OpenClaw 解决物理与系统端的最后一步。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2026+ 未来趋势：架构融合的必然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2560320" cy="2828925"/>
          </a:xfrm>
          <a:prstGeom prst="rect">
            <a:avLst/>
          </a:prstGeom>
          <a:solidFill>
            <a:srgbClr val="1C2438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75"/>
            <a:ext cx="256032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01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端云协同生态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14575"/>
            <a:ext cx="21945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AB2"/>
                </a:solidFill>
              </a:rPr>
              <a:t>未来的 AI 不会是非此即彼。复杂的计算、知识抽取在云端 (Dify) 完成，然后将指令推送到端侧 Agent (OpenClaw) 去触发电脑、手机、IoT 的实际动作。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28700"/>
            <a:ext cx="2560320" cy="2828925"/>
          </a:xfrm>
          <a:prstGeom prst="rect">
            <a:avLst/>
          </a:prstGeom>
          <a:solidFill>
            <a:srgbClr val="1C2438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85875"/>
            <a:ext cx="256032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02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企业化管控升级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2314575"/>
            <a:ext cx="21945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AB2"/>
                </a:solidFill>
              </a:rPr>
              <a:t>政企在采用 AI 时，需要 Dify 提供安全的知识护城河，同时通过修改版的 OpenClaw (合规版 Agent) 部署到员工电脑，实现自动化同时保留审计日志。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28700"/>
            <a:ext cx="2560320" cy="2828925"/>
          </a:xfrm>
          <a:prstGeom prst="rect">
            <a:avLst/>
          </a:prstGeom>
          <a:solidFill>
            <a:srgbClr val="1C2438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85875"/>
            <a:ext cx="256032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03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CECB"/>
                </a:solidFill>
              </a:rPr>
              <a:t>Agent As A Service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2314575"/>
            <a:ext cx="21945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AB2"/>
                </a:solidFill>
              </a:rPr>
              <a:t>像 Dify 这类引擎将逐渐加入标准化的 "Agent 调度接口"。通过统一的协议(如 MCP)，让云端大脑可以随时挂载并命令本地的执行终端，实现全链路自动化闭环。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E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 the AI Native Era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0045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https://github.com/1989zj/zj-matrix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Tech Insights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OpenClaw vs Dify Architecture &amp; Trends</dc:subject>
  <dc:creator>AI Assistant</dc:creator>
  <cp:lastModifiedBy>AI Assistant</cp:lastModifiedBy>
  <cp:revision>1</cp:revision>
  <dcterms:created xsi:type="dcterms:W3CDTF">2026-04-16T07:13:25Z</dcterms:created>
  <dcterms:modified xsi:type="dcterms:W3CDTF">2026-04-16T07:13:25Z</dcterms:modified>
</cp:coreProperties>
</file>